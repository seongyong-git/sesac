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369db7765f4a75" /><Relationship Type="http://schemas.openxmlformats.org/officeDocument/2006/relationships/extended-properties" Target="/docProps/app.xml" Id="R4962fee7ae104d3b" /><Relationship Type="http://schemas.openxmlformats.org/officeDocument/2006/relationships/officeDocument" Target="/ppt/presentation.xml" Id="R9f8ae2539d2b41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7e588c732e4eb4"/>
  </p:sldMasterIdLst>
  <p:notesMasterIdLst>
    <p:notesMasterId xmlns:r="http://schemas.openxmlformats.org/officeDocument/2006/relationships" r:id="R4b12e289952e410f"/>
  </p:notesMasterIdLst>
  <p:sldIdLst>
    <p:sldId xmlns:r="http://schemas.openxmlformats.org/officeDocument/2006/relationships" id="256" r:id="R16fef18c500647a5"/>
    <p:sldId xmlns:r="http://schemas.openxmlformats.org/officeDocument/2006/relationships" id="257" r:id="Rbdc590054ece4c7b"/>
    <p:sldId xmlns:r="http://schemas.openxmlformats.org/officeDocument/2006/relationships" id="258" r:id="R27979bb7e83d4195"/>
    <p:sldId xmlns:r="http://schemas.openxmlformats.org/officeDocument/2006/relationships" id="259" r:id="R0945cae0a2744642"/>
    <p:sldId xmlns:r="http://schemas.openxmlformats.org/officeDocument/2006/relationships" id="260" r:id="Rc5789cc0e76a47cd"/>
    <p:sldId xmlns:r="http://schemas.openxmlformats.org/officeDocument/2006/relationships" id="261" r:id="R8d2dd8a5d93046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028bc7d794a3f" /><Relationship Type="http://schemas.openxmlformats.org/officeDocument/2006/relationships/slideMaster" Target="/ppt/slideMasters/slideMaster1.xml" Id="R697e588c732e4eb4" /><Relationship Type="http://schemas.openxmlformats.org/officeDocument/2006/relationships/notesMaster" Target="/ppt/notesMasters/notesMaster1.xml" Id="R4b12e289952e410f" /><Relationship Type="http://schemas.openxmlformats.org/officeDocument/2006/relationships/presProps" Target="/ppt/presProps.xml" Id="R0bbc8e04cf9743f5" /><Relationship Type="http://schemas.openxmlformats.org/officeDocument/2006/relationships/tableStyles" Target="/ppt/tableStyles.xml" Id="R5c01c557bd494ae4" /><Relationship Type="http://schemas.openxmlformats.org/officeDocument/2006/relationships/slide" Target="/ppt/slides/slide1.xml" Id="R16fef18c500647a5" /><Relationship Type="http://schemas.openxmlformats.org/officeDocument/2006/relationships/slide" Target="/ppt/slides/slide2.xml" Id="Rbdc590054ece4c7b" /><Relationship Type="http://schemas.openxmlformats.org/officeDocument/2006/relationships/slide" Target="/ppt/slides/slide3.xml" Id="R27979bb7e83d4195" /><Relationship Type="http://schemas.openxmlformats.org/officeDocument/2006/relationships/slide" Target="/ppt/slides/slide4.xml" Id="R0945cae0a2744642" /><Relationship Type="http://schemas.openxmlformats.org/officeDocument/2006/relationships/slide" Target="/ppt/slides/slide5.xml" Id="Rc5789cc0e76a47cd" /><Relationship Type="http://schemas.openxmlformats.org/officeDocument/2006/relationships/slide" Target="/ppt/slides/slide6.xml" Id="R8d2dd8a5d93046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ffb53b479a43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90d938af5e44e3d" /><Relationship Type="http://schemas.openxmlformats.org/officeDocument/2006/relationships/notesMaster" Target="/ppt/notesMasters/notesMaster1.xml" Id="R784186653687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f01b3298094d3a" /><Relationship Type="http://schemas.openxmlformats.org/officeDocument/2006/relationships/notesMaster" Target="/ppt/notesMasters/notesMaster1.xml" Id="Ra92b65ecc6994e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67bd1a39e4b02" /><Relationship Type="http://schemas.openxmlformats.org/officeDocument/2006/relationships/notesMaster" Target="/ppt/notesMasters/notesMaster1.xml" Id="R483e4edd7d5d49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4f09e7ed7224c9d" /><Relationship Type="http://schemas.openxmlformats.org/officeDocument/2006/relationships/notesMaster" Target="/ppt/notesMasters/notesMaster1.xml" Id="R4d89c6af819448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d981c61e634987" /><Relationship Type="http://schemas.openxmlformats.org/officeDocument/2006/relationships/notesMaster" Target="/ppt/notesMasters/notesMaster1.xml" Id="R26b555a5eeb141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ecd9f3f93bb4517" /><Relationship Type="http://schemas.openxmlformats.org/officeDocument/2006/relationships/notesMaster" Target="/ppt/notesMasters/notesMaster1.xml" Id="Rdfb6b422756441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MTB.py, data/*.csv, git log. Git 작성자 표시는 커밋 작성자를 보여 주며 실제 팀 역할이나 공동 작업을 완전히 입증하지는 않습니다. 함수별 담당자는 팀 확인이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클래스명과 메서드 표기는 현재 소스의 실제 표기(소문자 cancel_reservation 포함)를 따랐습니다. ReservationApp.cancel_reservation()은 선언되어 있으나 실제 메뉴 취소 경로에서는 호출되지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메뉴 흐름은 MTB.py의 run()과 cancel_reservation.cancel()을 따라 작성했습니다. run()은 while 대신 재귀 호출로 재예매합니다. 선택 메뉴가 3이면 SystemExit가 발생해 함수 끝의 to_csv() 저장 코드에 도달하지 않습니다. 그 외 메뉴 번호는 별도 검증 없이 run() 끝으로 이동합니다.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choose_seats()는 입력을 대문자로 바꾸고 행·열을 분리합니다. 좌석이 범위 밖이거나 빈 좌석이 아니거나 이미 목록에 있으면 안내 후 재입력합니다. 선택 시 DataFrame을 ■로 바꿉니다. get_seat_price()는 VIP 좌석이 하나라도 있으면 단가 전체를 15,000원으로 설정합니다.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cancel_reservation.cancel()은 for문으로 저장된 좌석을 □로 바꾼 뒤 메시지와 좌석표를 출력합니다. 이후 1이면 새 ReservationApp 인스턴스로 예매를 시작하고 2이면 SystemExit로 종료합니다. 다른 입력에 대한 검증은 없습니다. 기존 ReservationApp.cancel_reservation() 메서드는 이 메뉴에서 사용되지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회고 문구는 기존 플로우차트, 현재 MTB.py, Git 변경 기록에서 확인 가능한 차이를 반영한 초안입니다. 팀원의 실제 경험, 최초 구상, 세부 역할 분담은 저장소에서 확인할 수 없으므로 발표 전에 사실에 맞게 수정해야 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5df9a7abe41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d03618464b4f79" /><Relationship Type="http://schemas.openxmlformats.org/officeDocument/2006/relationships/slideLayout" Target="/ppt/slideLayouts/slideLayout1.xml" Id="R36d0a5a250564a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d0a5a250564a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ffbc90e874f0f" /><Relationship Type="http://schemas.openxmlformats.org/officeDocument/2006/relationships/notesSlide" Target="/ppt/notesSlides/notesSlide1.xml" Id="Ra7b89e79cb67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b1f78d84a4b31" /><Relationship Type="http://schemas.openxmlformats.org/officeDocument/2006/relationships/notesSlide" Target="/ppt/notesSlides/notesSlide2.xml" Id="R44e51bedec624d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15ed400234e8a" /><Relationship Type="http://schemas.openxmlformats.org/officeDocument/2006/relationships/notesSlide" Target="/ppt/notesSlides/notesSlide3.xml" Id="Rd66e5a8c081c45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9c576683748b6" /><Relationship Type="http://schemas.openxmlformats.org/officeDocument/2006/relationships/notesSlide" Target="/ppt/notesSlides/notesSlide4.xml" Id="R502153539c0f43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5eddf6a224773" /><Relationship Type="http://schemas.openxmlformats.org/officeDocument/2006/relationships/notesSlide" Target="/ppt/notesSlides/notesSlide5.xml" Id="R26ec919f4e214d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f9625a5d7f4bde" /><Relationship Type="http://schemas.openxmlformats.org/officeDocument/2006/relationships/notesSlide" Target="/ppt/notesSlides/notesSlide6.xml" Id="R2db4fce4f17a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F75A58-0122-44D2-A553-10250B0EE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① 기획 요약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028397-12B5-4C44-A820-B20B05C6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프로그램 개요와 저장소 기록에서 확인한 기여 구역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79274-761A-4B52-920B-BD1E9442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22A89-6162-41AE-9A54-3FE97D94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C1A49-2B71-40A9-BB10-E6A46D4C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241A1-09AC-488B-9CD4-C2B69C10B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1920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영화 좌석 예매 프로그램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686547-629F-4BFD-B564-13A3DF42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23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7884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data 폴더의 좌석 CSV를 읽어 영화와 상영관을 고르고 빈 좌석을 예매합니다. 좌석 선택에 따라 금액을 계산하고 최근 예약을 취소할 수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6530E-BE15-4B3F-98B7-E4966FED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주요 기능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06F5D-931D-4B03-8387-74B9D11A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670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07E13D-3CEF-4004-9E0B-4BAB461FA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CSV 파일명으로 영화·상영관 목록 만들기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173FA-805D-42E9-B7F0-80CE034F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C193B-94FA-495B-A37F-90C496BD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인원수와 좌석 번호 형식·범위·예약 상태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D98AB4-7FE2-4083-B52B-A15A2885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9D3536-AA3F-4251-8DA7-2C404BD9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좌석을 선택해 총액 계산 후 예약 정보 보관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2DB0D2-7C96-4E1C-AB18-5D0DCFA4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0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2E6ABE-3115-45CE-95F1-84313636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가장 최근 선택 좌석을 취소하고 빈 좌석으로 복구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7DECEF-1D66-4339-9439-92CF4B15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역할 분담 · Git 작성 기록 기준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6210300" y="1628775"/>
          <a:ext xmlns:a="http://schemas.openxmlformats.org/drawingml/2006/main" cx="5391150" cy="3448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97050"/>
                <a:gridCol w="1797050"/>
                <a:gridCol w="1797050"/>
              </a:tblGrid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저장소에서 확인한 작업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담당 구역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이성용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MTB.py 예약 기능·좌석 데이터 변경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ReservationApp와 보조 함수</a:t>
                      </a:r>
                    </a:p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(함수별 공동 분담 기록 없음)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rst81792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플로우차트 PPTX 작성·수정, PDF 추가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기존 순서도 문서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Haeri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example.txt 초기 파일 변경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  <a:tc>
                  <a:txBody>
                    <a:bodyPr wrap="square" lIns="66675" tIns="66675" rIns="66675" bIns="66675">
                      <a:normAutofit/>
                    </a:bodyPr>
                    <a:lstStyle/>
                    <a:p>
                      <a:pPr algn="ctr"/>
                      <a:r>
                        <a:rPr sz="1200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클래스·함수 담당 기록 없음</a:t>
                      </a:r>
                    </a:p>
                  </a:txBody>
                  <a:tcPr marL="91440" marR="91440" marT="45720" marB="45720" anchor="ctr">
                    <a:solidFill>
                      <a:srgbClr val="F6FAFB"/>
                    </a:solidFill>
                  </a:tcPr>
                </a:tc>
              </a:tr>
            </a:tbl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EE072-F9AD-4BFC-917A-1787F48F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91125"/>
            <a:ext cx="5381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※ Git 작성자 정보로 역할을 묶었습니다. 실제 팀 내 역할이나 메서드별 분담이 다르면 발표 전 이름과 구역을 수정하세요.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B35496-8BE5-4868-91A3-E947F19A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24425"/>
            <a:ext cx="51054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가격 규칙: 기본 10,000원/석. VIP 좌석(C3–C6, D3–D6)이 하나라도 포함되면 선택 좌석 전체에 15,000원/석을 적용합니다.</a:t>
            </a:r>
          </a:p>
        </p:txBody>
      </p:sp>
    </p:spTree>
    <p:extLst>
      <p:ext uri="{BB962C8B-B14F-4D97-AF65-F5344CB8AC3E}">
        <p14:creationId xmlns:p14="http://schemas.microsoft.com/office/powerpoint/2010/main" val="14614665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01CD34-F3D8-4B9A-8824-D4A06361A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② 클래스 설계표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1397E-6A47-4F52-8AA0-910D06AC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현재 MTB.py에 구현된 클래스와 관계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12B55-B247-43FC-ADD9-0A8D4326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C224B-616D-4371-8A07-2DA2CB8C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1B1BB0-93CB-4A46-91FC-C7549EE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52450" y="1323975"/>
          <a:ext xmlns:a="http://schemas.openxmlformats.org/drawingml/2006/main" cx="11087100" cy="3981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71775"/>
                <a:gridCol w="2771775"/>
                <a:gridCol w="2771775"/>
                <a:gridCol w="2771775"/>
              </a:tblGrid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 이름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속성 (변수)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메서드 (기능)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상속 / 관계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data_dir: CSV 폴더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movies_by_theater: 상영관별 영화 목록</a:t>
                      </a:r>
                    </a:p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reservation_data: 현재 예약 정보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load_movies(), choose_movie(), choose_theater(), load_seats(), choose_people_count(), choose_seats(), get_seat_price(), cancel_reservation(), run()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예매 흐름의 중심 클래스. 좌석 CSV를 pandas DataFrame으로 읽고 예약 정보를 저장합니다. run()에서 취소 객체를 생성합니다.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  <a:tr h="1327150"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cancel_reservation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reservation_data: 취소할 예약 딕셔너리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cancel()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5725" tIns="85725" rIns="85725" bIns="857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ReservationApp을 상속합니다. selected_seats를 순회해 좌석을 □로 되돌립니다. 실제 취소 경로는 이 클래스의 cancel()입니다.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F7022-9BCC-496C-8FE4-528948C3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435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모듈 함수: clear_console(), print_options(), get_number_choice(), print_movie_pamphlet().  ReservationApp.cancel_reservation()도 정의돼 있지만 run()의 취소 분기에서는 cancel_reservation.cancel()을 호출합니다.</a:t>
            </a:r>
          </a:p>
        </p:txBody>
      </p:sp>
    </p:spTree>
    <p:extLst>
      <p:ext uri="{BB962C8B-B14F-4D97-AF65-F5344CB8AC3E}">
        <p14:creationId xmlns:p14="http://schemas.microsoft.com/office/powerpoint/2010/main" val="2143445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BF323F-798B-4CB4-A636-63262224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③ 전체 실행 순서도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031CF-BA87-4981-AEC9-E67D0C50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시작부터 종료까지 · 번호 입력 검증과 좌석 선택 세부는 다음 순서도 참고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CE199-758A-48DD-947F-9FBFEEEB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07B492-D78D-444D-A5C1-C3DCB9A0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2A01ED-1E45-4A4A-9F91-E642BB0D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CEA702-2B01-4C41-9646-014893AE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847725"/>
            <a:ext cx="895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5345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시작/끝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C96A5-A991-42B7-B455-2C45FF0C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47725"/>
            <a:ext cx="809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6CD0-7BF5-46EC-8D23-A599EF0E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847725"/>
            <a:ext cx="809625" cy="266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25641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55E376-82DF-4873-A8B0-BE2EB8D2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847725"/>
            <a:ext cx="1066800" cy="266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6122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입출력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EC2701-08AD-49EF-96AF-E51E4B0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3335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시작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B811E-CD6D-4614-AD96-0B27CC91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343025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CSV 파일명 읽기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상영관별 영화 목록 구성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549613-E473-49A5-93F7-5933F6882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266825"/>
            <a:ext cx="1504950" cy="8191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1103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영화 목록이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있는가?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C2272-479B-442C-B560-8C31F88E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43025"/>
            <a:ext cx="1952625" cy="666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6126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영화·상영관 선택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번호 오류면 재입력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9F4AE9-29A3-4B99-9399-D07566F2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343025"/>
            <a:ext cx="2667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 CSV 불러오기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인원수 입력·범위 확인</a:t>
            </a:r>
          </a:p>
        </p:txBody>
      </p:sp>
      <p:cxnSp>
        <p:nvCxnSpPr>
          <p:cNvPr id="74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866900" y="167640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62425" y="1676400"/>
            <a:ext cx="3429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2" idx="3"/>
            <a:endCxn xmlns:a="http://schemas.openxmlformats.org/drawingml/2006/main" id="13" idx="5"/>
          </p:cNvCxnSpPr>
          <p:nvPr/>
        </p:nvCxnSpPr>
        <p:spPr>
          <a:xfrm xmlns:a="http://schemas.openxmlformats.org/drawingml/2006/main">
            <a:off x="6010275" y="1676400"/>
            <a:ext cx="454819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8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78E1702E-FB80-4B1F-A742-B48E0014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0970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8" name=""/>
          <p:cNvCxnSpPr>
            <a:stCxn xmlns:a="http://schemas.openxmlformats.org/drawingml/2006/main" id="13" idx="2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251031" y="1676400"/>
            <a:ext cx="445294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1D9D26-B53F-4A1E-B19C-8AB9010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05050"/>
            <a:ext cx="12763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종료</a:t>
            </a:r>
          </a:p>
        </p:txBody>
      </p:sp>
      <p:cxnSp>
        <p:nvCxnSpPr>
          <p:cNvPr id="80" name=""/>
          <p:cNvCxnSpPr>
            <a:stCxn xmlns:a="http://schemas.openxmlformats.org/drawingml/2006/main" id="12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5257800" y="2085975"/>
            <a:ext cx="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2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96EDBF08-E0F3-486B-A54C-B75F8931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095500"/>
            <a:ext cx="647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56455-BECA-4CBF-A303-2D8EC9557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905125"/>
            <a:ext cx="2552700" cy="65722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좌석표 표시·좌석 선택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오류는 안내 후 다시 입력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6BBAE5-6240-4119-9B31-9878EAF5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05125"/>
            <a:ext cx="2543175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선택 좌석을 ■로 표시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인원수만큼 반복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34BA70-1AC0-488B-8AAD-FE167717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905125"/>
            <a:ext cx="26098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금액 계산·예약 정보 보관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완료 메시지 표시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3EA66C-B2DE-4AAA-8608-EEA53578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76675"/>
            <a:ext cx="2076450" cy="6477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857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후속 메뉴 입력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 예매 · 2 취소 · 3 종료</a:t>
            </a:r>
          </a:p>
        </p:txBody>
      </p:sp>
      <p:cxnSp>
        <p:nvCxnSpPr>
          <p:cNvPr id="86" name=""/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0029825" y="2009775"/>
            <a:ext cx="57150" cy="895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7" name=""/>
          <p:cNvCxnSpPr>
            <a:stCxn xmlns:a="http://schemas.openxmlformats.org/drawingml/2006/main" id="23" idx="5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448675" y="3233738"/>
            <a:ext cx="444103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8" name=""/>
          <p:cNvCxnSpPr>
            <a:stCxn xmlns:a="http://schemas.openxmlformats.org/drawingml/2006/main" id="24" idx="1"/>
            <a:endCxn xmlns:a="http://schemas.openxmlformats.org/drawingml/2006/main" id="25" idx="3"/>
          </p:cNvCxnSpPr>
          <p:nvPr/>
        </p:nvCxnSpPr>
        <p:spPr>
          <a:xfrm xmlns:a="http://schemas.openxmlformats.org/drawingml/2006/main" flipH="1">
            <a:off x="5524500" y="3233738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89" name=""/>
          <p:cNvCxnSpPr>
            <a:stCxn xmlns:a="http://schemas.openxmlformats.org/drawingml/2006/main" id="25" idx="1"/>
            <a:endCxn xmlns:a="http://schemas.openxmlformats.org/drawingml/2006/main" id="26" idx="2"/>
          </p:cNvCxnSpPr>
          <p:nvPr/>
        </p:nvCxnSpPr>
        <p:spPr>
          <a:xfrm xmlns:a="http://schemas.openxmlformats.org/drawingml/2006/main" flipH="1">
            <a:off x="2528888" y="3233738"/>
            <a:ext cx="385763" cy="966788"/>
          </a:xfrm>
          <a:prstGeom xmlns:a="http://schemas.openxmlformats.org/drawingml/2006/main" prst="bentConnector3">
            <a:avLst>
              <a:gd name="adj1" fmla="val 39506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9257DB1-E0F9-458D-86D0-7963153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800475"/>
            <a:ext cx="167640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491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메뉴 번호</a:t>
            </a:r>
          </a:p>
        </p:txBody>
      </p:sp>
      <p:cxnSp>
        <p:nvCxnSpPr>
          <p:cNvPr id="91" name=""/>
          <p:cNvCxnSpPr>
            <a:stCxn xmlns:a="http://schemas.openxmlformats.org/drawingml/2006/main" id="26" idx="2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528888" y="4200525"/>
            <a:ext cx="452438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4E17253-5D90-409C-B17C-E8823122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9720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1: self.run()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영화 선택부터 다시 예매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A4FE10-45AA-4336-8EA5-DC327BA6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972050"/>
            <a:ext cx="3429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2: 취소 처리 후</a:t>
            </a:r>
          </a:p>
          <a:p xmlns:a="http://schemas.openxmlformats.org/drawingml/2006/main">
            <a:pPr algn="ctr">
              <a:def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취소 메뉴로 이동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2CE1BC-F847-4D10-8FA3-22BC5ED4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72050"/>
            <a:ext cx="335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3: SystemExit로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프로그램 종료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3B2EC6-1C9E-4586-ACDD-473D0E90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762250" y="4200525"/>
            <a:ext cx="219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71BC6-3BE5-4D50-BEDE-F7CD7361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62250" y="4200525"/>
            <a:ext cx="953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0D127E-6BB1-4ADC-BD76-D90A0542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90750" y="4762500"/>
            <a:ext cx="5715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34F9D58-5500-44AB-947F-EE8986CDD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90750" y="4762500"/>
            <a:ext cx="953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F5C664-B4F9-4367-8D4D-070BD9EF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12407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003193C-C797-48ED-97D5-74CD877F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81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73F1A4F-5D52-465D-9267-5A93A621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9525" y="4600575"/>
            <a:ext cx="953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93341B-AD0E-4B55-B31B-1210E42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19525" y="4714875"/>
            <a:ext cx="22764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9841D6E-4F68-4EEB-8C64-DF8EBBA02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096000" y="4714875"/>
            <a:ext cx="953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D48D95-A639-4873-9F78-F9D54EBC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602932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4C386-1668-4CB9-B4AD-F23E63F1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56247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7C0DB8-8A84-4C41-9A88-D3377699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657725" y="4200525"/>
            <a:ext cx="53054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842FD1-A509-4D02-B32A-646F7544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63150" y="4200525"/>
            <a:ext cx="953" cy="771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0B6E69-0044-4981-B704-955834C44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9896475" y="49053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2313D"/>
          </a:solidFill>
          <a:ln xmlns:a="http://schemas.openxmlformats.org/drawingml/2006/main" w="9525">
            <a:solidFill>
              <a:srgbClr val="12313D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CA8E2A-9A05-4631-8470-62B98D65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005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20EA81-520C-4482-BC60-07B5E827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61950" y="5286375"/>
            <a:ext cx="11430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3392E93-8360-48C7-BA59-89E26C09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61950" y="1152525"/>
            <a:ext cx="953" cy="413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410D7D-FF39-4028-9EC5-9DA41A04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1950" y="1152525"/>
            <a:ext cx="69913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27FA48D-E61D-4700-9088-0074972C9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53300" y="1152525"/>
            <a:ext cx="953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647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A03A6F2-DA2F-4F94-BF9B-40D7122D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286625" y="1276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47A"/>
          </a:solidFill>
          <a:ln xmlns:a="http://schemas.openxmlformats.org/drawingml/2006/main" w="9525">
            <a:solidFill>
              <a:srgbClr val="17647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2D8FF51-0E8D-4AEF-9166-7621BA0F1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7250"/>
            <a:ext cx="1790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재예매 → 영화 선택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0C81E7-AAB2-46A0-A050-4EB4CEA6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912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취소 메뉴: 1번 새 예매 · 2번 종료 (상세는 취소 순서도)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4DE8D01-F15C-49F4-A846-15268ED9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7531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그 외 번호는 재검증 없이 저장 코드로 이동합니다. 3번 종료는 SystemExit라</a:t>
            </a:r>
          </a:p>
          <a:p xmlns:a="http://schemas.openxmlformats.org/drawingml/2006/main">
            <a:pPr algn="l">
              <a:def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run() 끝의 to_csv() 줄을 건너뜁니다.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CDFA875-B0C7-4B7C-A04A-61AA7FA0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2935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영화·상영관 번호와 인원수는 범위를 벗어나면 재입력합니다. 메뉴 번호(1·2·3)는 코드에서 재검증하지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0146053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8B4286-40D4-48DA-AB3B-DBB6C948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④ 핵심 기능 1 · 좌석 선택과 금액 계산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1BF464-1AED-48B2-BD73-21A3A327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ReservationApp.choose_seats() → get_seat_price() · 한 좌석씩 확인하고 필요한 수만큼 반복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378D-2227-4DC9-92C1-A9F39104A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CDAC4B-2D70-4019-AB80-4B3053FE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8CC17-A2AF-4E7D-9055-B4521B1B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49699-C65E-432F-9C69-BFAA031D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200150"/>
            <a:ext cx="3429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좌석 선택 시작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67748-649C-4F04-A42F-C0F9E32F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762125"/>
            <a:ext cx="3486150" cy="5143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 번호 입력 (예: A3)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CA07A8-AE15-49D1-9F8B-6F8099D6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19350"/>
            <a:ext cx="41719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59338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형식이 A3인가? 좌석표 범위 안인가?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□ 상태이며 이번 예매에서 중복되지 않았나?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CA7E0-B80C-4F43-9182-EC31A061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95550"/>
            <a:ext cx="2762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DEA"/>
          </a:solidFill>
          <a:ln xmlns:a="http://schemas.openxmlformats.org/drawingml/2006/main" w="15240">
            <a:solidFill>
              <a:srgbClr val="A5423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안내 출력: 형식 오류, 좌석표 밖,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이미 예약·선택된 좌석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CFAD39-CAA5-464E-9371-E796626D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390900"/>
            <a:ext cx="3333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좌석을 ■로 바꾸고 선택 목록에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0952F-47A2-42EA-BE27-32FAA1CA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86225"/>
            <a:ext cx="3124200" cy="6858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6018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선택 좌석 수가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예매 인원수와 같은가?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C99B97-7023-4E9E-B762-CE8B74AD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943475"/>
            <a:ext cx="2971800" cy="6477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55555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C3–C6·D3–D6 좌석이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포함됐나?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D4524F-F324-4665-9E0C-CBC7C740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63880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예: 전체 인원 × 15,000원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650E69-AB6B-4EA5-883E-0132C3F99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5638800"/>
            <a:ext cx="30099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아니오: 전체 인원 × 10,000원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34452A-3EBF-4397-8A4F-63879807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191250"/>
            <a:ext cx="3238500" cy="333375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95917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총 결제 금액 출력</a:t>
            </a:r>
          </a:p>
        </p:txBody>
      </p:sp>
      <p:cxnSp>
        <p:nvCxnSpPr>
          <p:cNvPr id="54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86475" y="16383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7" idx="4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86475" y="2276475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3419475" y="2819400"/>
            <a:ext cx="5810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9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6BBD1687-E44A-4252-80DA-DF989859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419350"/>
            <a:ext cx="71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7" idx="5"/>
          </p:cNvCxnSpPr>
          <p:nvPr/>
        </p:nvCxnSpPr>
        <p:spPr>
          <a:xfrm xmlns:a="http://schemas.openxmlformats.org/drawingml/2006/main" flipV="1">
            <a:off x="542925" y="2019300"/>
            <a:ext cx="3864769" cy="13335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1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033C4B20-1411-4776-AC88-DEF48D7F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38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다시 입력</a:t>
            </a:r>
          </a:p>
        </p:txBody>
      </p:sp>
      <p:cxnSp>
        <p:nvCxnSpPr>
          <p:cNvPr id="60" name=""/>
          <p:cNvCxnSpPr>
            <a:stCxn xmlns:a="http://schemas.openxmlformats.org/drawingml/2006/main" id="8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86475" y="3219450"/>
            <a:ext cx="9525" cy="171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3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AA4823BC-4C5E-48DD-A69B-3692284A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317182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62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392430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DB080CE-88A9-4A28-BFF9-3340209EE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29125"/>
            <a:ext cx="953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C6884F-BE9E-4C74-B397-54DAE299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4429125"/>
            <a:ext cx="600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9E809E-282A-44AE-BE2E-EF7595C6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29625" y="2009775"/>
            <a:ext cx="953" cy="2419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681BC-190A-40F5-8A18-5561974E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829550" y="2009775"/>
            <a:ext cx="6000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647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CF26DC-C833-4235-AD1C-5B1C73C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350" y="1933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647A"/>
          </a:solidFill>
          <a:ln xmlns:a="http://schemas.openxmlformats.org/drawingml/2006/main" w="9525">
            <a:solidFill>
              <a:srgbClr val="17647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A6A9D-A692-4983-AA62-D20B5648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267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17647A"/>
                </a:solidFill>
                <a:latin typeface="Malgun Gothic"/>
                <a:ea typeface="Malgun Gothic"/>
                <a:cs typeface="Malgun Gothic"/>
              </a:rPr>
              <a:t>아니오 · 계속</a:t>
            </a:r>
          </a:p>
        </p:txBody>
      </p:sp>
      <p:cxnSp>
        <p:nvCxnSpPr>
          <p:cNvPr id="69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47720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2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E436411D-5C2D-42A2-B77B-38260615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71487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1" name=""/>
          <p:cNvCxnSpPr>
            <a:stCxn xmlns:a="http://schemas.openxmlformats.org/drawingml/2006/main" id="12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838575" y="5267325"/>
            <a:ext cx="771525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4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2B70E641-AEC7-4382-B0BD-D93338306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76825"/>
            <a:ext cx="33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73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581900" y="5267325"/>
            <a:ext cx="771525" cy="6048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36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1AAEFAE7-1D5C-4578-9907-53035BAC5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7682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아니오</a:t>
            </a:r>
          </a:p>
        </p:txBody>
      </p:sp>
      <p:cxnSp>
        <p:nvCxnSpPr>
          <p:cNvPr id="75" name=""/>
          <p:cNvCxnSpPr>
            <a:stCxn xmlns:a="http://schemas.openxmlformats.org/drawingml/2006/main" id="13" idx="3"/>
            <a:endCxn xmlns:a="http://schemas.openxmlformats.org/drawingml/2006/main" id="15" idx="5"/>
          </p:cNvCxnSpPr>
          <p:nvPr/>
        </p:nvCxnSpPr>
        <p:spPr>
          <a:xfrm xmlns:a="http://schemas.openxmlformats.org/drawingml/2006/main">
            <a:off x="3838575" y="5872163"/>
            <a:ext cx="679847" cy="485775"/>
          </a:xfrm>
          <a:prstGeom xmlns:a="http://schemas.openxmlformats.org/drawingml/2006/main" prst="bentConnector3">
            <a:avLst>
              <a:gd name="adj1" fmla="val 46935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76" name=""/>
          <p:cNvCxnSpPr>
            <a:stCxn xmlns:a="http://schemas.openxmlformats.org/drawingml/2006/main" id="14" idx="1"/>
            <a:endCxn xmlns:a="http://schemas.openxmlformats.org/drawingml/2006/main" id="15" idx="2"/>
          </p:cNvCxnSpPr>
          <p:nvPr/>
        </p:nvCxnSpPr>
        <p:spPr>
          <a:xfrm xmlns:a="http://schemas.openxmlformats.org/drawingml/2006/main" flipH="1">
            <a:off x="7673578" y="5872163"/>
            <a:ext cx="679847" cy="485775"/>
          </a:xfrm>
          <a:prstGeom xmlns:a="http://schemas.openxmlformats.org/drawingml/2006/main" prst="bentConnector3">
            <a:avLst>
              <a:gd name="adj1" fmla="val 46935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764931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8DCD26-0C06-4051-8616-29422E2C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④ 핵심 기능 2 · 예약 취소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573E5-C0A4-440B-9D20-C81BD8BF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실제 취소 경로: ReservationApp.run() → cancel_reservation.cancel()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5E0BB-DA32-4B75-8B5E-DBCB0690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E87C2-C8C8-418D-8C91-33F43CC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2A244-D98D-4E79-B97B-F0E5AD78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BEDA5-80A2-4782-B4FF-06FF08875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209675"/>
            <a:ext cx="3752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예매 완료 후 메뉴에서 2 선택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342E9-3425-4B3F-9A1B-67D2F8E3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19275"/>
            <a:ext cx="3848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현재 reservation_data에서 좌석 목록 가져오기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00509-A37B-4BF3-8279-1FC34E04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524125"/>
            <a:ext cx="4114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selected_seats를 순회해 각 좌석을 □로 복구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1D20D-295A-4E47-A38A-C357775A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71850"/>
            <a:ext cx="3848100" cy="5905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DCEEF2"/>
          </a:solidFill>
          <a:ln xmlns:a="http://schemas.openxmlformats.org/drawingml/2006/main" w="15240">
            <a:solidFill>
              <a:srgbClr val="17647A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취소 메시지와 갱신된 좌석표 출력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7AF99-480C-4F29-ABB6-7EFBC10E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143375"/>
            <a:ext cx="3371850" cy="8001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C17B3F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취소 후 메뉴 입력</a:t>
            </a:r>
          </a:p>
          <a:p xmlns:a="http://schemas.openxmlformats.org/drawingml/2006/main">
            <a:pPr algn="ctr">
              <a:def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예매하기 · 2 종료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0CF0C1-7B24-4315-BBCD-34B17AEF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57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E"/>
          </a:solidFill>
          <a:ln xmlns:a="http://schemas.openxmlformats.org/drawingml/2006/main" w="15240">
            <a:solidFill>
              <a:srgbClr val="337A63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1: 새 ReservationApp().run()</a:t>
            </a:r>
          </a:p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영화 선택부터 재시작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9E080-3F58-453E-B848-383AEE81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57800"/>
            <a:ext cx="342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4"/>
          </a:solidFill>
          <a:ln xmlns:a="http://schemas.openxmlformats.org/drawingml/2006/main" w="15240">
            <a:solidFill>
              <a:srgbClr val="C17B3F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그 외 입력: cancel()에서 돌아감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DADBA-C08D-4684-91CE-1E1BFDC9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57800"/>
            <a:ext cx="34290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2: SystemExit로 프로그램 종료</a:t>
            </a:r>
          </a:p>
        </p:txBody>
      </p:sp>
      <p:cxnSp>
        <p:nvCxnSpPr>
          <p:cNvPr id="38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166687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39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096000" y="2371725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0" name=""/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96000" y="3190875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1" name=""/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396240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3981450" y="4543425"/>
            <a:ext cx="4286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19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64EE72BF-858B-4173-8D55-43680A96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67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cxnSp>
        <p:nvCxnSpPr>
          <p:cNvPr id="44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81925" y="4543425"/>
            <a:ext cx="428625" cy="1038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1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DEBA9598-6384-4AAB-A851-720720C1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2672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cxnSp>
        <p:nvCxnSpPr>
          <p:cNvPr id="46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6096000" y="4943475"/>
            <a:ext cx="0" cy="3143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12313D"/>
            </a:solidFill>
            <a:prstDash val="solid"/>
            <a:tailEnd type="arrow" w="sm" len="sm"/>
          </a:ln>
        </p:spPr>
      </p:cxnSp>
      <p:sp>
        <p:nvSpPr>
          <p:cNvPr id="23" name="branch-label">
            <a:extLst xmlns:a="http://schemas.openxmlformats.org/drawingml/2006/main">
              <a:ext uri="{FF2B5EF4-FFF2-40B4-BE49-F238E27FC236}">
                <a16:creationId xmlns:a16="http://schemas.microsoft.com/office/drawing/2014/main" id="{A66ABAEE-2767-4F18-B909-33A86ACC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43475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그 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5B96E-8797-42D3-89BC-3DFB5D97D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34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94266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구현 확인: 취소는 한 번에 현재 reservation_data의 선택 좌석을 되돌립니다. 저장은 run() 끝의 to_csv()에 의존하며, 종료(SystemExit) 분기는 그 저장 줄을 건너뜁니다.</a:t>
            </a:r>
          </a:p>
        </p:txBody>
      </p:sp>
    </p:spTree>
    <p:extLst>
      <p:ext uri="{BB962C8B-B14F-4D97-AF65-F5344CB8AC3E}">
        <p14:creationId xmlns:p14="http://schemas.microsoft.com/office/powerpoint/2010/main" val="3282250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93ABC2-2D61-4283-84C6-29CAD71C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⑤ 구현 회고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FDA27-D473-4C7B-8D11-5E7F1055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현재 코드와 기존 순서도를 비교해 작성한 기술 회고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2EDC0-2A06-4359-94C9-8513EB8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8177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1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039242-C5DB-4CC7-B989-9B947EAE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103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영화 좌석 예매 프로그램  ·  마무리 과제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8EE87-AF45-40F5-9D5E-C08B7781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610350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0">
                <a:solidFill>
                  <a:srgbClr val="536A72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D8ACA-A8D4-4AC8-AEC4-43678810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기획·범위 변화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9ECF2-4F57-46D9-9419-6FD938D2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32575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기존 순서도에는 예매 조회와 매출 조회가 있었지만 현재 MTB.py에는 해당 기능이 없습니다. 현재 구현은 영화·상영관 선택, 좌석 예매, 취소와 금액 계산에 집중되어 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268320-9510-4891-9EF0-AB4276A8C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코드상 복잡한 구간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07C8B-9B2D-4625-8142-57A8944D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838325"/>
            <a:ext cx="32575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좌석 입력을 DataFrame의 행·열에 연결해야 합니다. A3 형식 변환 후 좌석표 범위, 빈 좌석(□), 중복 선택을 차례로 검사하고, 통과한 좌석만 ■로 바꾸도록 나눴습니다.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5532A2-A88D-4426-90D0-9660BEE0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04925"/>
            <a:ext cx="3381375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7647A"/>
          </a:solidFill>
          <a:ln xmlns:a="http://schemas.openxmlformats.org/drawingml/2006/main" w="15240">
            <a:solidFill>
              <a:srgbClr val="12313D"/>
            </a:solidFill>
            <a:prstDash val="solid"/>
          </a:ln>
        </p:spPr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다음에 보완할 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BBF86-3453-4096-8CF2-3C6DF9DF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38325"/>
            <a:ext cx="32575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18313A"/>
                </a:solidFill>
                <a:latin typeface="Malgun Gothic"/>
                <a:ea typeface="Malgun Gothic"/>
                <a:cs typeface="Malgun Gothic"/>
              </a:rPr>
              <a:t>run()의 재예매는 재귀 호출입니다. 메뉴 입력 검증이 빠져 있고, 종료 분기에서는 좌석 CSV 저장 줄을 건너뜁니다. while 반복문으로 메뉴를 관리하고 예매·취소 결과를 즉시 저장하는 방식이 필요합니다.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4F511-4B7F-45AA-943E-D11EE9B8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71925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2313D"/>
                </a:solidFill>
                <a:latin typeface="Malgun Gothic"/>
                <a:ea typeface="Malgun Gothic"/>
                <a:cs typeface="Malgun Gothic"/>
              </a:rPr>
              <a:t>팀 역할 기록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590550" y="4381500"/>
          <a:ext xmlns:a="http://schemas.openxmlformats.org/drawingml/2006/main" cx="11001375" cy="15906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67125"/>
                <a:gridCol w="3667125"/>
                <a:gridCol w="3667125"/>
              </a:tblGrid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이름 (저장소 표기)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확인되는 작업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함수별 분담 확인</a:t>
                      </a:r>
                    </a:p>
                  </a:txBody>
                  <a:tcPr marL="91440" marR="91440" marT="45720" marB="45720" anchor="ctr">
                    <a:solidFill>
                      <a:srgbClr val="17647A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이성용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MTB.py 및 좌석 CSV 관련 커밋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ReservationApp 코드 작성 이력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rst81792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플로우차트 PPTX/PDF 작성·수정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코드 함수 담당은 확인되지 않음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97669"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Haeri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example.txt 초기 파일 커밋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  <a:tc>
                  <a:txBody>
                    <a:bodyPr wrap="square" lIns="57150" tIns="47625" rIns="57150" bIns="47625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1831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클래스·함수 담당은 확인되지 않음</a:t>
                      </a:r>
                    </a:p>
                  </a:txBody>
                  <a:tcPr marL="91440" marR="91440" marT="45720" marB="45720" anchor="ctr">
                    <a:solidFill>
                      <a:srgbClr val="F3F8F9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E8807-2E76-457B-8A5D-AF5F07DF0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7695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A5423A"/>
                </a:solidFill>
                <a:latin typeface="Malgun Gothic"/>
                <a:ea typeface="Malgun Gothic"/>
                <a:cs typeface="Malgun Gothic"/>
              </a:rPr>
              <a:t>발표 전 보완: 실제로 가장 어려웠던 점, 처음 기획, 팀원별 클래스·함수 담당이 위 기록과 다르면 팀 합의 내용으로 고쳐 주세요.</a:t>
            </a:r>
          </a:p>
        </p:txBody>
      </p:sp>
    </p:spTree>
    <p:extLst>
      <p:ext uri="{BB962C8B-B14F-4D97-AF65-F5344CB8AC3E}">
        <p14:creationId xmlns:p14="http://schemas.microsoft.com/office/powerpoint/2010/main" val="1839245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2026-10-02T06:59:56.1130000Z</dcterms:created>
  <dcterms:modified xsi:type="dcterms:W3CDTF">2026-10-02T06:59:56.1130000Z</dcterms:modified>
</coreProperties>
</file>